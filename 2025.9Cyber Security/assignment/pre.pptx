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5"/>
  </p:handoutMasterIdLst>
  <p:sldIdLst>
    <p:sldId id="260" r:id="rId3"/>
    <p:sldId id="272" r:id="rId4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D86"/>
    <a:srgbClr val="2660AD"/>
    <a:srgbClr val="00679C"/>
    <a:srgbClr val="F2F2F2"/>
    <a:srgbClr val="DAE8F0"/>
    <a:srgbClr val="006495"/>
    <a:srgbClr val="0094DE"/>
    <a:srgbClr val="65AADD"/>
    <a:srgbClr val="0767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25" y="67"/>
      </p:cViewPr>
      <p:guideLst>
        <p:guide pos="415"/>
        <p:guide pos="7242"/>
        <p:guide orient="horz" pos="648"/>
        <p:guide orient="horz" pos="712"/>
        <p:guide orient="horz" pos="3928"/>
        <p:guide orient="horz" pos="38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434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4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B844C-DF9C-4240-BD30-F83FC53DF0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982A1-D720-4CB0-8F34-50BC39088CB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85" r="27228" b="14385"/>
          <a:stretch>
            <a:fillRect/>
          </a:stretch>
        </p:blipFill>
        <p:spPr>
          <a:xfrm>
            <a:off x="5185461" y="0"/>
            <a:ext cx="7006543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2" y="3344480"/>
            <a:ext cx="6243495" cy="798847"/>
          </a:xfr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zh-CN" altLang="en-US" sz="4400" b="1" kern="1200" spc="2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</a:lstStyle>
          <a:p>
            <a:r>
              <a:rPr lang="zh-CN" altLang="en-US"/>
              <a:t>学术答辩通用</a:t>
            </a:r>
            <a:r>
              <a:rPr lang="en-US" altLang="zh-CN"/>
              <a:t>PPT</a:t>
            </a:r>
            <a:r>
              <a:rPr lang="zh-CN" altLang="en-US"/>
              <a:t>模板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2" y="2534563"/>
            <a:ext cx="6243495" cy="798847"/>
          </a:xfrm>
        </p:spPr>
        <p:txBody>
          <a:bodyPr anchor="ctr" anchorCtr="0"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4400" b="1" kern="1200" spc="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南京信息工程大学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2390580"/>
            <a:ext cx="439839" cy="2754774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 descr="图片包含 游戏机, 猫&#10;&#10;描述已自动生成"/>
          <p:cNvPicPr>
            <a:picLocks noChangeAspect="1"/>
          </p:cNvPicPr>
          <p:nvPr userDrawn="1"/>
        </p:nvPicPr>
        <p:blipFill rotWithShape="1"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88" t="67053" r="30179" b="26533"/>
          <a:stretch>
            <a:fillRect/>
          </a:stretch>
        </p:blipFill>
        <p:spPr>
          <a:xfrm rot="16200000">
            <a:off x="-1141186" y="3523983"/>
            <a:ext cx="2754777" cy="439839"/>
          </a:xfrm>
          <a:prstGeom prst="rect">
            <a:avLst/>
          </a:prstGeom>
          <a:noFill/>
        </p:spPr>
      </p:pic>
      <p:sp>
        <p:nvSpPr>
          <p:cNvPr id="11" name="文本框 10"/>
          <p:cNvSpPr txBox="1"/>
          <p:nvPr userDrawn="1"/>
        </p:nvSpPr>
        <p:spPr>
          <a:xfrm>
            <a:off x="838201" y="6017800"/>
            <a:ext cx="29037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70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rPr>
              <a:t>明德格物  立己达人</a:t>
            </a:r>
            <a:endParaRPr lang="en-US" altLang="zh-CN" sz="1600" spc="700">
              <a:gradFill flip="none" rotWithShape="1">
                <a:gsLst>
                  <a:gs pos="0">
                    <a:srgbClr val="2660AD"/>
                  </a:gs>
                  <a:gs pos="100000">
                    <a:srgbClr val="00679C"/>
                  </a:gs>
                </a:gsLst>
                <a:lin ang="1620000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阿里巴巴普惠体 Medium" panose="00020600040101010101" pitchFamily="18" charset="-122"/>
            </a:endParaRPr>
          </a:p>
        </p:txBody>
      </p:sp>
      <p:sp>
        <p:nvSpPr>
          <p:cNvPr id="15" name="文本占位符 53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2" y="4225564"/>
            <a:ext cx="406536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1600" spc="2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en-US" altLang="zh-CN"/>
              <a:t>&gt;&gt;</a:t>
            </a:r>
            <a:r>
              <a:rPr lang="zh-CN" altLang="en-US"/>
              <a:t>答辩学生：魏子奇</a:t>
            </a:r>
            <a:endParaRPr lang="zh-CN" altLang="en-US"/>
          </a:p>
        </p:txBody>
      </p:sp>
      <p:sp>
        <p:nvSpPr>
          <p:cNvPr id="16" name="文本占位符 53"/>
          <p:cNvSpPr>
            <a:spLocks noGrp="1"/>
          </p:cNvSpPr>
          <p:nvPr>
            <p:ph type="body" sz="quarter" idx="18" hasCustomPrompt="1"/>
          </p:nvPr>
        </p:nvSpPr>
        <p:spPr>
          <a:xfrm>
            <a:off x="838202" y="4703491"/>
            <a:ext cx="406536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1600" spc="2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en-US" altLang="zh-CN"/>
              <a:t>&gt;&gt;</a:t>
            </a:r>
            <a:r>
              <a:rPr lang="zh-CN" altLang="en-US"/>
              <a:t>指导教师：</a:t>
            </a:r>
            <a:r>
              <a:rPr lang="en-US" altLang="zh-CN"/>
              <a:t>XXX</a:t>
            </a:r>
            <a:endParaRPr lang="zh-CN" altLang="en-US"/>
          </a:p>
        </p:txBody>
      </p:sp>
      <p:pic>
        <p:nvPicPr>
          <p:cNvPr id="14" name="图片 13" descr="图片包含 游戏机&#10;&#10;描述已自动生成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79196"/>
            <a:ext cx="2850764" cy="6787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4267199" cy="6857998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5089235" y="1130300"/>
            <a:ext cx="4731329" cy="5166517"/>
          </a:xfrm>
          <a:prstGeom prst="rect">
            <a:avLst/>
          </a:prstGeom>
        </p:spPr>
        <p:txBody>
          <a:bodyPr anchor="ctr" anchorCtr="1">
            <a:noAutofit/>
          </a:bodyPr>
          <a:lstStyle>
            <a:lvl1pPr marL="514350" indent="-514350" algn="l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Font typeface="+mj-lt"/>
              <a:buAutoNum type="arabicPeriod"/>
              <a:defRPr sz="2800" spc="100" baseline="0">
                <a:solidFill>
                  <a:srgbClr val="00679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</p:txBody>
      </p:sp>
      <p:pic>
        <p:nvPicPr>
          <p:cNvPr id="9" name="图片 8" descr="图片包含 游戏机, 标志&#10;&#10;描述已自动生成"/>
          <p:cNvPicPr>
            <a:picLocks noChangeAspect="1"/>
          </p:cNvPicPr>
          <p:nvPr userDrawn="1"/>
        </p:nvPicPr>
        <p:blipFill rotWithShape="1">
          <a:blip r:embed="rId2">
            <a:alphaModFix amt="30000"/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62" t="10731" r="31804" b="28177"/>
          <a:stretch>
            <a:fillRect/>
          </a:stretch>
        </p:blipFill>
        <p:spPr>
          <a:xfrm>
            <a:off x="1660236" y="4113659"/>
            <a:ext cx="2606963" cy="2744341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660400" y="1028700"/>
            <a:ext cx="33781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目录</a:t>
            </a:r>
            <a:b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</a:b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CONTENTS</a:t>
            </a:r>
            <a:endParaRPr lang="zh-CN" altLang="en-US" sz="1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 descr="图片包含 游戏机&#10;&#10;描述已自动生成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546" y="372457"/>
            <a:ext cx="2259354" cy="5379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4495798" y="1"/>
            <a:ext cx="7696202" cy="6858000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5089235" y="1130300"/>
            <a:ext cx="4731329" cy="5166517"/>
          </a:xfrm>
          <a:prstGeom prst="rect">
            <a:avLst/>
          </a:prstGeom>
        </p:spPr>
        <p:txBody>
          <a:bodyPr anchor="ctr" anchorCtr="1">
            <a:noAutofit/>
          </a:bodyPr>
          <a:lstStyle>
            <a:lvl1pPr marL="514350" indent="-514350" algn="l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Font typeface="+mj-lt"/>
              <a:buAutoNum type="arabicPeriod"/>
              <a:defRPr sz="28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</p:txBody>
      </p:sp>
      <p:pic>
        <p:nvPicPr>
          <p:cNvPr id="9" name="图片 8" descr="图片包含 游戏机, 标志&#10;&#10;描述已自动生成"/>
          <p:cNvPicPr>
            <a:picLocks noChangeAspect="1"/>
          </p:cNvPicPr>
          <p:nvPr userDrawn="1"/>
        </p:nvPicPr>
        <p:blipFill rotWithShape="1">
          <a:blip r:embed="rId2">
            <a:alphaModFix amt="30000"/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62" t="10731" r="31804" b="28177"/>
          <a:stretch>
            <a:fillRect/>
          </a:stretch>
        </p:blipFill>
        <p:spPr>
          <a:xfrm>
            <a:off x="9585037" y="4113658"/>
            <a:ext cx="2606963" cy="2744341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660400" y="1028700"/>
            <a:ext cx="33781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67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目录</a:t>
            </a:r>
            <a:b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67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</a:b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67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CONTENTS</a:t>
            </a:r>
            <a:endParaRPr lang="zh-CN" altLang="en-US" sz="1400" b="1">
              <a:solidFill>
                <a:srgbClr val="0067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838201" y="6017800"/>
            <a:ext cx="29037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70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rPr>
              <a:t>明德格物  立己达人</a:t>
            </a:r>
            <a:endParaRPr lang="en-US" altLang="zh-CN" sz="1600" spc="700">
              <a:gradFill flip="none" rotWithShape="1">
                <a:gsLst>
                  <a:gs pos="0">
                    <a:srgbClr val="2660AD"/>
                  </a:gs>
                  <a:gs pos="100000">
                    <a:srgbClr val="00679C"/>
                  </a:gs>
                </a:gsLst>
                <a:lin ang="1620000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阿里巴巴普惠体 Medium" panose="00020600040101010101" pitchFamily="18" charset="-122"/>
            </a:endParaRPr>
          </a:p>
        </p:txBody>
      </p:sp>
      <p:pic>
        <p:nvPicPr>
          <p:cNvPr id="13" name="图片 12" descr="图片包含 游戏机&#10;&#10;描述已自动生成"/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546" y="372457"/>
            <a:ext cx="2259354" cy="5379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158" y="428558"/>
            <a:ext cx="8089874" cy="595236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486137" y="343812"/>
            <a:ext cx="352063" cy="679981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8" name="直接连接符 7"/>
          <p:cNvCxnSpPr/>
          <p:nvPr userDrawn="1"/>
        </p:nvCxnSpPr>
        <p:spPr>
          <a:xfrm flipV="1">
            <a:off x="1065158" y="1023793"/>
            <a:ext cx="8089874" cy="1"/>
          </a:xfrm>
          <a:prstGeom prst="line">
            <a:avLst/>
          </a:prstGeom>
          <a:ln w="12700">
            <a:solidFill>
              <a:srgbClr val="0067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图片包含 游戏机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546" y="372457"/>
            <a:ext cx="2259354" cy="537942"/>
          </a:xfrm>
          <a:prstGeom prst="rect">
            <a:avLst/>
          </a:prstGeom>
        </p:spPr>
      </p:pic>
      <p:sp>
        <p:nvSpPr>
          <p:cNvPr id="10" name="图片占位符 9"/>
          <p:cNvSpPr>
            <a:spLocks noGrp="1"/>
          </p:cNvSpPr>
          <p:nvPr>
            <p:ph type="pic" sz="quarter" idx="13" hasCustomPrompt="1"/>
          </p:nvPr>
        </p:nvSpPr>
        <p:spPr>
          <a:xfrm>
            <a:off x="2028088" y="2193114"/>
            <a:ext cx="2397125" cy="2397125"/>
          </a:xfrm>
          <a:prstGeom prst="ellipse">
            <a:avLst/>
          </a:prstGeom>
          <a:ln w="12700">
            <a:solidFill>
              <a:srgbClr val="2660AD"/>
            </a:solidFill>
          </a:ln>
        </p:spPr>
        <p:txBody>
          <a:bodyPr/>
          <a:lstStyle/>
          <a:p>
            <a:r>
              <a:rPr lang="zh-CN" altLang="en-US" dirty="0"/>
              <a:t>单击图标添加照片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5001530" y="2295234"/>
            <a:ext cx="2166257" cy="457296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2660AD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姓名：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5" hasCustomPrompt="1"/>
          </p:nvPr>
        </p:nvSpPr>
        <p:spPr>
          <a:xfrm>
            <a:off x="5001530" y="3134502"/>
            <a:ext cx="5116432" cy="167005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个人概况</a:t>
            </a:r>
            <a:endParaRPr lang="zh-CN" altLang="en-US" dirty="0"/>
          </a:p>
        </p:txBody>
      </p:sp>
      <p:sp>
        <p:nvSpPr>
          <p:cNvPr id="19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7324853" y="2453953"/>
            <a:ext cx="1791477" cy="298577"/>
          </a:xfr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zh-CN" altLang="en-US" sz="1400" dirty="0"/>
              <a:t>英文名或其他信息</a:t>
            </a:r>
            <a:endParaRPr lang="zh-CN" altLang="en-US" sz="1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3267940" y="2346331"/>
            <a:ext cx="8931564" cy="2234906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2346331"/>
            <a:ext cx="2898487" cy="2234905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3267940" y="2336085"/>
            <a:ext cx="8931564" cy="2245151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588904" y="2324980"/>
            <a:ext cx="7474528" cy="167177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节标题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584892" y="4007864"/>
            <a:ext cx="7468178" cy="54263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副标题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845704" y="1638300"/>
            <a:ext cx="2186131" cy="295318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39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-12700" y="2351455"/>
            <a:ext cx="2898487" cy="224515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 descr="图片包含 游戏机, 猫&#10;&#10;描述已自动生成"/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3" t="31896" r="35812" b="26086"/>
          <a:stretch>
            <a:fillRect/>
          </a:stretch>
        </p:blipFill>
        <p:spPr>
          <a:xfrm>
            <a:off x="9557904" y="2308199"/>
            <a:ext cx="2641600" cy="2273037"/>
          </a:xfrm>
          <a:prstGeom prst="rect">
            <a:avLst/>
          </a:prstGeom>
        </p:spPr>
      </p:pic>
      <p:sp>
        <p:nvSpPr>
          <p:cNvPr id="19" name="文本框 18"/>
          <p:cNvSpPr txBox="1"/>
          <p:nvPr userDrawn="1"/>
        </p:nvSpPr>
        <p:spPr>
          <a:xfrm>
            <a:off x="838201" y="6017800"/>
            <a:ext cx="29037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70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rPr>
              <a:t>明德格物  立己达人</a:t>
            </a:r>
            <a:endParaRPr lang="en-US" altLang="zh-CN" sz="1600" spc="700">
              <a:gradFill flip="none" rotWithShape="1">
                <a:gsLst>
                  <a:gs pos="0">
                    <a:srgbClr val="2660AD"/>
                  </a:gs>
                  <a:gs pos="100000">
                    <a:srgbClr val="00679C"/>
                  </a:gs>
                </a:gsLst>
                <a:lin ang="1620000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阿里巴巴普惠体 Medium" panose="00020600040101010101" pitchFamily="18" charset="-122"/>
            </a:endParaRPr>
          </a:p>
        </p:txBody>
      </p:sp>
      <p:pic>
        <p:nvPicPr>
          <p:cNvPr id="20" name="图片 19" descr="图片包含 游戏机&#10;&#10;描述已自动生成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546" y="372457"/>
            <a:ext cx="2259354" cy="5379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65158" y="343811"/>
            <a:ext cx="8089874" cy="595235"/>
          </a:xfrm>
        </p:spPr>
        <p:txBody>
          <a:bodyPr anchor="b" anchorCtr="0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内容标题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5158" y="1390788"/>
            <a:ext cx="10453742" cy="451382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defRPr sz="2000"/>
            </a:lvl1pPr>
            <a:lvl2pPr indent="0">
              <a:lnSpc>
                <a:spcPct val="150000"/>
              </a:lnSpc>
              <a:defRPr sz="2000"/>
            </a:lvl2pPr>
            <a:lvl3pPr indent="0">
              <a:lnSpc>
                <a:spcPct val="150000"/>
              </a:lnSpc>
              <a:defRPr sz="1800"/>
            </a:lvl3pPr>
            <a:lvl4pPr indent="0">
              <a:lnSpc>
                <a:spcPct val="150000"/>
              </a:lnSpc>
              <a:defRPr sz="1600"/>
            </a:lvl4pPr>
            <a:lvl5pPr indent="0"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486137" y="343812"/>
            <a:ext cx="352063" cy="679981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11" name="直接连接符 10"/>
          <p:cNvCxnSpPr/>
          <p:nvPr userDrawn="1"/>
        </p:nvCxnSpPr>
        <p:spPr>
          <a:xfrm flipV="1">
            <a:off x="1065158" y="1023793"/>
            <a:ext cx="8089874" cy="1"/>
          </a:xfrm>
          <a:prstGeom prst="line">
            <a:avLst/>
          </a:prstGeom>
          <a:ln w="12700">
            <a:solidFill>
              <a:srgbClr val="0067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 userDrawn="1"/>
        </p:nvSpPr>
        <p:spPr>
          <a:xfrm>
            <a:off x="838200" y="6017800"/>
            <a:ext cx="29037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70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rPr>
              <a:t>明德格物  立己达人</a:t>
            </a:r>
            <a:endParaRPr lang="en-US" altLang="zh-CN" sz="1600" spc="700">
              <a:gradFill flip="none" rotWithShape="1">
                <a:gsLst>
                  <a:gs pos="0">
                    <a:srgbClr val="2660AD"/>
                  </a:gs>
                  <a:gs pos="100000">
                    <a:srgbClr val="00679C"/>
                  </a:gs>
                </a:gsLst>
                <a:lin ang="1620000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阿里巴巴普惠体 Medium" panose="00020600040101010101" pitchFamily="18" charset="-122"/>
            </a:endParaRPr>
          </a:p>
        </p:txBody>
      </p:sp>
      <p:pic>
        <p:nvPicPr>
          <p:cNvPr id="16" name="图片 15" descr="图片包含 游戏机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546" y="372457"/>
            <a:ext cx="2259354" cy="5379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158" y="428558"/>
            <a:ext cx="8089874" cy="595236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486137" y="343812"/>
            <a:ext cx="352063" cy="679981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8" name="直接连接符 7"/>
          <p:cNvCxnSpPr/>
          <p:nvPr userDrawn="1"/>
        </p:nvCxnSpPr>
        <p:spPr>
          <a:xfrm flipV="1">
            <a:off x="1065158" y="1023793"/>
            <a:ext cx="8089874" cy="1"/>
          </a:xfrm>
          <a:prstGeom prst="line">
            <a:avLst/>
          </a:prstGeom>
          <a:ln w="12700">
            <a:solidFill>
              <a:srgbClr val="0067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图片包含 游戏机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546" y="372457"/>
            <a:ext cx="2259354" cy="5379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段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158" y="428558"/>
            <a:ext cx="8089874" cy="595236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486137" y="343812"/>
            <a:ext cx="352063" cy="679981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8" name="直接连接符 7"/>
          <p:cNvCxnSpPr/>
          <p:nvPr userDrawn="1"/>
        </p:nvCxnSpPr>
        <p:spPr>
          <a:xfrm flipV="1">
            <a:off x="1065158" y="1023793"/>
            <a:ext cx="8089874" cy="1"/>
          </a:xfrm>
          <a:prstGeom prst="line">
            <a:avLst/>
          </a:prstGeom>
          <a:ln w="12700">
            <a:solidFill>
              <a:srgbClr val="0067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图片包含 游戏机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546" y="372457"/>
            <a:ext cx="2259354" cy="537942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1229360" y="2248953"/>
            <a:ext cx="2209800" cy="644525"/>
          </a:xfr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gradFill>
                  <a:gsLst>
                    <a:gs pos="0">
                      <a:srgbClr val="00679C"/>
                    </a:gs>
                    <a:gs pos="100000">
                      <a:srgbClr val="2660AD"/>
                    </a:gs>
                  </a:gsLst>
                  <a:lin ang="12900000" scaled="0"/>
                </a:gradFill>
              </a:defRPr>
            </a:lvl1pPr>
          </a:lstStyle>
          <a:p>
            <a:pPr lvl="0"/>
            <a:r>
              <a:rPr lang="zh-CN" altLang="en-US" dirty="0"/>
              <a:t>关键词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962660" y="3173073"/>
            <a:ext cx="2743200" cy="2621674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关键词内容</a:t>
            </a:r>
            <a:endParaRPr lang="zh-CN" altLang="en-US" dirty="0"/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4221584" y="2167673"/>
            <a:ext cx="0" cy="2993874"/>
          </a:xfrm>
          <a:prstGeom prst="line">
            <a:avLst/>
          </a:prstGeom>
          <a:ln w="28575">
            <a:gradFill>
              <a:gsLst>
                <a:gs pos="0">
                  <a:srgbClr val="2660AD"/>
                </a:gs>
                <a:gs pos="100000">
                  <a:srgbClr val="0E5D86"/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占位符 9"/>
          <p:cNvSpPr>
            <a:spLocks noGrp="1"/>
          </p:cNvSpPr>
          <p:nvPr>
            <p:ph type="body" sz="quarter" idx="15" hasCustomPrompt="1"/>
          </p:nvPr>
        </p:nvSpPr>
        <p:spPr>
          <a:xfrm>
            <a:off x="4958080" y="2248953"/>
            <a:ext cx="2209800" cy="644525"/>
          </a:xfr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gradFill>
                  <a:gsLst>
                    <a:gs pos="0">
                      <a:srgbClr val="00679C"/>
                    </a:gs>
                    <a:gs pos="100000">
                      <a:srgbClr val="2660AD"/>
                    </a:gs>
                  </a:gsLst>
                  <a:lin ang="12900000" scaled="0"/>
                </a:gradFill>
              </a:defRPr>
            </a:lvl1pPr>
          </a:lstStyle>
          <a:p>
            <a:pPr lvl="0"/>
            <a:r>
              <a:rPr lang="zh-CN" altLang="en-US" dirty="0"/>
              <a:t>关键词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6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4691380" y="3173073"/>
            <a:ext cx="2743200" cy="2621674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关键词内容</a:t>
            </a:r>
            <a:endParaRPr lang="zh-CN" altLang="en-US" dirty="0"/>
          </a:p>
        </p:txBody>
      </p:sp>
      <p:sp>
        <p:nvSpPr>
          <p:cNvPr id="19" name="文本占位符 9"/>
          <p:cNvSpPr>
            <a:spLocks noGrp="1"/>
          </p:cNvSpPr>
          <p:nvPr>
            <p:ph type="body" sz="quarter" idx="17" hasCustomPrompt="1"/>
          </p:nvPr>
        </p:nvSpPr>
        <p:spPr>
          <a:xfrm>
            <a:off x="8679389" y="2248953"/>
            <a:ext cx="2209800" cy="644525"/>
          </a:xfr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gradFill>
                  <a:gsLst>
                    <a:gs pos="0">
                      <a:srgbClr val="00679C"/>
                    </a:gs>
                    <a:gs pos="100000">
                      <a:srgbClr val="2660AD"/>
                    </a:gs>
                  </a:gsLst>
                  <a:lin ang="12900000" scaled="0"/>
                </a:gradFill>
              </a:defRPr>
            </a:lvl1pPr>
          </a:lstStyle>
          <a:p>
            <a:pPr lvl="0"/>
            <a:r>
              <a:rPr lang="zh-CN" altLang="en-US" dirty="0"/>
              <a:t>关键词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0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8412689" y="3173073"/>
            <a:ext cx="2743200" cy="2621674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关键词内容</a:t>
            </a:r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7971426" y="2167673"/>
            <a:ext cx="0" cy="2993874"/>
          </a:xfrm>
          <a:prstGeom prst="line">
            <a:avLst/>
          </a:prstGeom>
          <a:ln w="28575">
            <a:gradFill>
              <a:gsLst>
                <a:gs pos="0">
                  <a:srgbClr val="2660AD"/>
                </a:gs>
                <a:gs pos="100000">
                  <a:srgbClr val="0E5D86"/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158" y="428558"/>
            <a:ext cx="8089874" cy="595236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486137" y="343812"/>
            <a:ext cx="352063" cy="679981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8" name="直接连接符 7"/>
          <p:cNvCxnSpPr/>
          <p:nvPr userDrawn="1"/>
        </p:nvCxnSpPr>
        <p:spPr>
          <a:xfrm flipV="1">
            <a:off x="1065158" y="1023793"/>
            <a:ext cx="8089874" cy="1"/>
          </a:xfrm>
          <a:prstGeom prst="line">
            <a:avLst/>
          </a:prstGeom>
          <a:ln w="12700">
            <a:solidFill>
              <a:srgbClr val="0067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图片包含 游戏机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546" y="372457"/>
            <a:ext cx="2259354" cy="537942"/>
          </a:xfrm>
          <a:prstGeom prst="rect">
            <a:avLst/>
          </a:prstGeom>
        </p:spPr>
      </p:pic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1065158" y="1474787"/>
            <a:ext cx="2930525" cy="4359275"/>
          </a:xfrm>
        </p:spPr>
        <p:txBody>
          <a:bodyPr/>
          <a:lstStyle/>
          <a:p>
            <a:r>
              <a:rPr lang="zh-CN" altLang="en-US" dirty="0"/>
              <a:t>单击图标添加图片</a:t>
            </a:r>
            <a:endParaRPr lang="zh-CN" altLang="en-US" dirty="0"/>
          </a:p>
        </p:txBody>
      </p:sp>
      <p:sp>
        <p:nvSpPr>
          <p:cNvPr id="11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4588380" y="1793830"/>
            <a:ext cx="2209800" cy="644525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1">
                <a:gradFill>
                  <a:gsLst>
                    <a:gs pos="0">
                      <a:srgbClr val="00679C"/>
                    </a:gs>
                    <a:gs pos="100000">
                      <a:srgbClr val="2660AD"/>
                    </a:gs>
                  </a:gsLst>
                  <a:lin ang="12900000" scaled="0"/>
                </a:gradFill>
              </a:defRPr>
            </a:lvl1pPr>
          </a:lstStyle>
          <a:p>
            <a:pPr lvl="0"/>
            <a:r>
              <a:rPr lang="zh-CN" altLang="en-US" dirty="0"/>
              <a:t>关键词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5" hasCustomPrompt="1"/>
          </p:nvPr>
        </p:nvSpPr>
        <p:spPr>
          <a:xfrm>
            <a:off x="4588380" y="2671297"/>
            <a:ext cx="6113832" cy="85774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关键词内容</a:t>
            </a:r>
            <a:endParaRPr lang="zh-CN" altLang="en-US" dirty="0"/>
          </a:p>
        </p:txBody>
      </p:sp>
      <p:sp>
        <p:nvSpPr>
          <p:cNvPr id="13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4588380" y="4615175"/>
            <a:ext cx="6113832" cy="85774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关键词内容</a:t>
            </a:r>
            <a:endParaRPr lang="zh-CN" altLang="en-US" dirty="0"/>
          </a:p>
        </p:txBody>
      </p:sp>
      <p:sp>
        <p:nvSpPr>
          <p:cNvPr id="14" name="文本占位符 9"/>
          <p:cNvSpPr>
            <a:spLocks noGrp="1"/>
          </p:cNvSpPr>
          <p:nvPr>
            <p:ph type="body" sz="quarter" idx="17" hasCustomPrompt="1"/>
          </p:nvPr>
        </p:nvSpPr>
        <p:spPr>
          <a:xfrm>
            <a:off x="4588380" y="3715852"/>
            <a:ext cx="2209800" cy="644525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1">
                <a:gradFill>
                  <a:gsLst>
                    <a:gs pos="0">
                      <a:srgbClr val="00679C"/>
                    </a:gs>
                    <a:gs pos="100000">
                      <a:srgbClr val="2660AD"/>
                    </a:gs>
                  </a:gsLst>
                  <a:lin ang="12900000" scaled="0"/>
                </a:gradFill>
              </a:defRPr>
            </a:lvl1pPr>
          </a:lstStyle>
          <a:p>
            <a:pPr lvl="0"/>
            <a:r>
              <a:rPr lang="zh-CN" altLang="en-US" dirty="0"/>
              <a:t>关键词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486137" y="343812"/>
            <a:ext cx="352063" cy="679981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6" name="直接连接符 5"/>
          <p:cNvCxnSpPr/>
          <p:nvPr userDrawn="1"/>
        </p:nvCxnSpPr>
        <p:spPr>
          <a:xfrm flipV="1">
            <a:off x="1065158" y="1023793"/>
            <a:ext cx="8089874" cy="1"/>
          </a:xfrm>
          <a:prstGeom prst="line">
            <a:avLst/>
          </a:prstGeom>
          <a:ln w="12700">
            <a:solidFill>
              <a:srgbClr val="0067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546" y="372457"/>
            <a:ext cx="2259354" cy="5379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85" r="27228" b="14385"/>
          <a:stretch>
            <a:fillRect/>
          </a:stretch>
        </p:blipFill>
        <p:spPr>
          <a:xfrm>
            <a:off x="5185461" y="0"/>
            <a:ext cx="7006543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199410" y="2488461"/>
            <a:ext cx="7793178" cy="798847"/>
          </a:xfrm>
        </p:spPr>
        <p:txBody>
          <a:bodyPr anchor="b">
            <a:noAutofit/>
          </a:bodyPr>
          <a:lstStyle>
            <a:lvl1pPr marL="0" algn="ctr" defTabSz="914400" rtl="0" eaLnBrk="1" latinLnBrk="0" hangingPunct="1">
              <a:defRPr lang="zh-CN" altLang="en-US" sz="4800" b="1" kern="1200" spc="2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</a:lstStyle>
          <a:p>
            <a:r>
              <a:rPr lang="zh-CN" altLang="en-US" dirty="0"/>
              <a:t>感谢您的指导！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211206" y="3287308"/>
            <a:ext cx="7781382" cy="798847"/>
          </a:xfrm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2000" b="0" kern="1200" spc="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Thank you for your support and guidance!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2" y="2395959"/>
            <a:ext cx="439839" cy="2754774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 descr="图片包含 游戏机, 猫&#10;&#10;描述已自动生成"/>
          <p:cNvPicPr>
            <a:picLocks noChangeAspect="1"/>
          </p:cNvPicPr>
          <p:nvPr userDrawn="1"/>
        </p:nvPicPr>
        <p:blipFill rotWithShape="1"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88" t="67053" r="30179" b="26533"/>
          <a:stretch>
            <a:fillRect/>
          </a:stretch>
        </p:blipFill>
        <p:spPr>
          <a:xfrm rot="16200000">
            <a:off x="-1157484" y="3553425"/>
            <a:ext cx="2754777" cy="439839"/>
          </a:xfrm>
          <a:prstGeom prst="rect">
            <a:avLst/>
          </a:prstGeom>
          <a:noFill/>
        </p:spPr>
      </p:pic>
      <p:sp>
        <p:nvSpPr>
          <p:cNvPr id="11" name="文本框 10"/>
          <p:cNvSpPr txBox="1"/>
          <p:nvPr userDrawn="1"/>
        </p:nvSpPr>
        <p:spPr>
          <a:xfrm>
            <a:off x="4644131" y="6369639"/>
            <a:ext cx="29037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spc="7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rPr>
              <a:t>明德格物  立己达人</a:t>
            </a:r>
            <a:endParaRPr lang="en-US" altLang="zh-CN" sz="1600" spc="700" dirty="0">
              <a:gradFill flip="none" rotWithShape="1">
                <a:gsLst>
                  <a:gs pos="0">
                    <a:srgbClr val="2660AD"/>
                  </a:gs>
                  <a:gs pos="100000">
                    <a:srgbClr val="00679C"/>
                  </a:gs>
                </a:gsLst>
                <a:lin ang="1620000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阿里巴巴普惠体 Medium" panose="00020600040101010101" pitchFamily="18" charset="-122"/>
            </a:endParaRPr>
          </a:p>
        </p:txBody>
      </p:sp>
      <p:sp>
        <p:nvSpPr>
          <p:cNvPr id="15" name="文本占位符 53"/>
          <p:cNvSpPr>
            <a:spLocks noGrp="1"/>
          </p:cNvSpPr>
          <p:nvPr>
            <p:ph type="body" sz="quarter" idx="17" hasCustomPrompt="1"/>
          </p:nvPr>
        </p:nvSpPr>
        <p:spPr>
          <a:xfrm>
            <a:off x="4063315" y="4277241"/>
            <a:ext cx="406536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1600" spc="2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en-US" altLang="zh-CN" dirty="0"/>
              <a:t>&gt;&gt;</a:t>
            </a:r>
            <a:r>
              <a:rPr lang="zh-CN" altLang="en-US" dirty="0"/>
              <a:t>答辩学生：魏子奇</a:t>
            </a:r>
            <a:endParaRPr lang="zh-CN" altLang="en-US" dirty="0"/>
          </a:p>
        </p:txBody>
      </p:sp>
      <p:sp>
        <p:nvSpPr>
          <p:cNvPr id="16" name="文本占位符 53"/>
          <p:cNvSpPr>
            <a:spLocks noGrp="1"/>
          </p:cNvSpPr>
          <p:nvPr>
            <p:ph type="body" sz="quarter" idx="18" hasCustomPrompt="1"/>
          </p:nvPr>
        </p:nvSpPr>
        <p:spPr>
          <a:xfrm>
            <a:off x="4063314" y="4803063"/>
            <a:ext cx="406536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1600" spc="2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en-US" altLang="zh-CN" dirty="0"/>
              <a:t>&gt;&gt;</a:t>
            </a:r>
            <a:r>
              <a:rPr lang="zh-CN" altLang="en-US" dirty="0"/>
              <a:t>指导教师：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pic>
        <p:nvPicPr>
          <p:cNvPr id="14" name="图片 13" descr="图片包含 游戏机&#10;&#10;描述已自动生成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79196"/>
            <a:ext cx="2850764" cy="67875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capture traffic       </a:t>
            </a:r>
            <a:r>
              <a:rPr lang="en-US" altLang="zh-CN">
                <a:sym typeface="+mn-ea"/>
              </a:rPr>
              <a:t>Wireshark + tcpdump      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2600" y="1058545"/>
            <a:ext cx="2479675" cy="882015"/>
          </a:xfrm>
        </p:spPr>
        <p:txBody>
          <a:bodyPr>
            <a:normAutofit fontScale="90000" lnSpcReduction="10000"/>
          </a:bodyPr>
          <a:lstStyle/>
          <a:p>
            <a:pPr>
              <a:buNone/>
            </a:pPr>
            <a:r>
              <a:rPr lang="en-US" altLang="zh-CN" dirty="0"/>
              <a:t>sudo tcpdump -i eth0 -w scan.pcap</a:t>
            </a:r>
            <a:endParaRPr lang="en-US" altLang="zh-CN" dirty="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3279140" y="1058545"/>
            <a:ext cx="2455545" cy="8820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1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CN" dirty="0"/>
              <a:t>sudo nmap -sS -p- 192.168.126.133</a:t>
            </a:r>
            <a:endParaRPr lang="en-US" altLang="zh-CN" dirty="0"/>
          </a:p>
        </p:txBody>
      </p:sp>
      <p:pic>
        <p:nvPicPr>
          <p:cNvPr id="5" name="图片 4" descr="20-Tcpdump-Capture-St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0" y="2059305"/>
            <a:ext cx="5252085" cy="3344545"/>
          </a:xfrm>
          <a:prstGeom prst="rect">
            <a:avLst/>
          </a:prstGeom>
        </p:spPr>
      </p:pic>
      <p:pic>
        <p:nvPicPr>
          <p:cNvPr id="6" name="图片 5" descr="22-Wireshark-Scan-Patter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075" y="1739265"/>
            <a:ext cx="3651885" cy="2325370"/>
          </a:xfrm>
          <a:prstGeom prst="rect">
            <a:avLst/>
          </a:prstGeom>
        </p:spPr>
      </p:pic>
      <p:pic>
        <p:nvPicPr>
          <p:cNvPr id="7" name="图片 6" descr="23-Wireshark-HTTP-PO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075" y="4282440"/>
            <a:ext cx="3651250" cy="2325370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/>
        </p:nvSpPr>
        <p:spPr>
          <a:xfrm>
            <a:off x="9839960" y="2264410"/>
            <a:ext cx="2455545" cy="882015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CN" dirty="0"/>
              <a:t>tcp.flags.syn==1 &amp;&amp; tcp.flags.ack==0</a:t>
            </a:r>
            <a:endParaRPr lang="en-US" altLang="zh-CN" dirty="0"/>
          </a:p>
        </p:txBody>
      </p:sp>
      <p:sp>
        <p:nvSpPr>
          <p:cNvPr id="10" name="内容占位符 2"/>
          <p:cNvSpPr>
            <a:spLocks noGrp="1"/>
          </p:cNvSpPr>
          <p:nvPr/>
        </p:nvSpPr>
        <p:spPr>
          <a:xfrm>
            <a:off x="9839325" y="4864735"/>
            <a:ext cx="2455545" cy="8820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1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CN" dirty="0"/>
              <a:t>http.request.method=="POST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Password cracking      </a:t>
            </a:r>
            <a:r>
              <a:rPr lang="en-US" altLang="zh-CN">
                <a:sym typeface="+mn-ea"/>
              </a:rPr>
              <a:t>John the Ripper</a:t>
            </a:r>
            <a:r>
              <a:rPr lang="en-US" altLang="zh-CN">
                <a:sym typeface="+mn-ea"/>
              </a:rPr>
              <a:t>      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2600" y="1058545"/>
            <a:ext cx="2479675" cy="882015"/>
          </a:xfrm>
        </p:spPr>
        <p:txBody>
          <a:bodyPr>
            <a:normAutofit fontScale="80000"/>
          </a:bodyPr>
          <a:lstStyle/>
          <a:p>
            <a:pPr>
              <a:buNone/>
            </a:pPr>
            <a:r>
              <a:rPr lang="en-US" altLang="zh-CN" dirty="0"/>
              <a:t>get shadow(hash) and </a:t>
            </a:r>
            <a:r>
              <a:rPr lang="en-US" altLang="zh-CN" dirty="0"/>
              <a:t>passwd(username)</a:t>
            </a:r>
            <a:endParaRPr lang="en-US" altLang="zh-CN" dirty="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3279140" y="1058545"/>
            <a:ext cx="2455545" cy="882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en-US" altLang="zh-CN" dirty="0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9556115" y="1696720"/>
            <a:ext cx="2455545" cy="11639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CN" sz="1700" dirty="0"/>
              <a:t>john --wordlist=/usr/share/wordlists/rockyou.txt lab_shadow.txt</a:t>
            </a:r>
            <a:endParaRPr lang="en-US" altLang="zh-CN" sz="1700" dirty="0"/>
          </a:p>
        </p:txBody>
      </p:sp>
      <p:sp>
        <p:nvSpPr>
          <p:cNvPr id="10" name="内容占位符 2"/>
          <p:cNvSpPr>
            <a:spLocks noGrp="1"/>
          </p:cNvSpPr>
          <p:nvPr/>
        </p:nvSpPr>
        <p:spPr>
          <a:xfrm>
            <a:off x="9839325" y="4864735"/>
            <a:ext cx="2455545" cy="8820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1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CN" dirty="0"/>
              <a:t>john --show lab_shadow.txt</a:t>
            </a:r>
            <a:endParaRPr lang="en-US" altLang="zh-CN" dirty="0"/>
          </a:p>
        </p:txBody>
      </p:sp>
      <p:pic>
        <p:nvPicPr>
          <p:cNvPr id="8" name="图片 7" descr="3-p-pw&amp;shado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935" y="1940560"/>
            <a:ext cx="3856990" cy="2457450"/>
          </a:xfrm>
          <a:prstGeom prst="rect">
            <a:avLst/>
          </a:prstGeom>
        </p:spPr>
      </p:pic>
      <p:pic>
        <p:nvPicPr>
          <p:cNvPr id="11" name="图片 10" descr="30-John-Ru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090" y="939165"/>
            <a:ext cx="4638675" cy="2954020"/>
          </a:xfrm>
          <a:prstGeom prst="rect">
            <a:avLst/>
          </a:prstGeom>
        </p:spPr>
      </p:pic>
      <p:pic>
        <p:nvPicPr>
          <p:cNvPr id="12" name="图片 11" descr="31-John-Sh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090" y="3984625"/>
            <a:ext cx="4667885" cy="297243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68935" y="4529455"/>
            <a:ext cx="35553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None/>
            </a:pPr>
            <a:r>
              <a:rPr lang="en-US" altLang="zh-CN" dirty="0">
                <a:sym typeface="+mn-ea"/>
              </a:rPr>
              <a:t>unshadow passwd shadow &gt; lab_shadow.txt     combine</a:t>
            </a:r>
            <a:endParaRPr lang="en-US" altLang="zh-CN" dirty="0">
              <a:sym typeface="+mn-ea"/>
            </a:endParaRPr>
          </a:p>
        </p:txBody>
      </p:sp>
    </p:spTree>
  </p:cSld>
  <p:clrMapOvr>
    <a:masterClrMapping/>
  </p:clrMapOvr>
</p:sld>
</file>

<file path=ppt/tags/tag4.xml><?xml version="1.0" encoding="utf-8"?>
<p:tagLst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1798C1F16BF4597978ACE664E17CF" ma:contentTypeVersion="2" ma:contentTypeDescription="Create a new document." ma:contentTypeScope="" ma:versionID="d27c28d0eda6c7338f383f31a37c05d5">
  <xsd:schema xmlns:xsd="http://www.w3.org/2001/XMLSchema" xmlns:xs="http://www.w3.org/2001/XMLSchema" xmlns:p="http://schemas.microsoft.com/office/2006/metadata/properties" xmlns:ns3="22e52b54-6ee2-4d7c-bb11-589918ac67c1" targetNamespace="http://schemas.microsoft.com/office/2006/metadata/properties" ma:root="true" ma:fieldsID="e7665bad7c7a3fb50acb85d392f51e77" ns3:_="">
    <xsd:import namespace="22e52b54-6ee2-4d7c-bb11-589918ac67c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e52b54-6ee2-4d7c-bb11-589918ac67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543942-9E39-451C-B51A-C69E0BB9EEAD}">
  <ds:schemaRefs/>
</ds:datastoreItem>
</file>

<file path=customXml/itemProps2.xml><?xml version="1.0" encoding="utf-8"?>
<ds:datastoreItem xmlns:ds="http://schemas.openxmlformats.org/officeDocument/2006/customXml" ds:itemID="{A6AE0E6D-D9E9-4583-98B2-3D0CD20947E2}">
  <ds:schemaRefs/>
</ds:datastoreItem>
</file>

<file path=customXml/itemProps3.xml><?xml version="1.0" encoding="utf-8"?>
<ds:datastoreItem xmlns:ds="http://schemas.openxmlformats.org/officeDocument/2006/customXml" ds:itemID="{6EE44A41-F244-40E8-B6A6-49E03F922F5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398</Words>
  <Application>WPS 演示</Application>
  <PresentationFormat>宽屏</PresentationFormat>
  <Paragraphs>20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阿里巴巴普惠体 Medium</vt:lpstr>
      <vt:lpstr>Segoe UI Light</vt:lpstr>
      <vt:lpstr>SJcujihei</vt:lpstr>
      <vt:lpstr>Arial Unicode MS</vt:lpstr>
      <vt:lpstr>Calibri</vt:lpstr>
      <vt:lpstr>JetBrains Mono</vt:lpstr>
      <vt:lpstr>SWAstro</vt:lpstr>
      <vt:lpstr>Office 主题​​</vt:lpstr>
      <vt:lpstr>南京信息工程大学</vt:lpstr>
      <vt:lpstr>capture traffic       Wireshark + tcpdump    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wei1012871944@live.cn</dc:creator>
  <cp:lastModifiedBy>GUYI</cp:lastModifiedBy>
  <cp:revision>3</cp:revision>
  <dcterms:created xsi:type="dcterms:W3CDTF">2020-04-28T02:46:00Z</dcterms:created>
  <dcterms:modified xsi:type="dcterms:W3CDTF">2025-11-13T05:11:48Z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0x010100C1F1798C1F16BF4597978ACE664E17CF</vt:lpwstr>
  </property>
  <property fmtid="{D5CDD505-2E9C-101B-9397-08002B2CF9AE}" pid="3" name="ICV">
    <vt:lpwstr>501FBFCDC1F34E25816CF2ADFEEFD702_13</vt:lpwstr>
  </property>
  <property fmtid="{D5CDD505-2E9C-101B-9397-08002B2CF9AE}" pid="4" name="KSOProductBuildVer">
    <vt:lpwstr>2052-12.1.0.23542</vt:lpwstr>
  </property>
</Properties>
</file>